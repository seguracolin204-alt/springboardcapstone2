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03120"/>
            <a:ext cx="137160" cy="2926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92024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Residential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Adoption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U.S. Counties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Colin Segura</a:t>
            </a:r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Data Science Career Track</a:t>
            </a:r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20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Two — Final Report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6126480"/>
            <a:ext cx="320040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residential solar has grown </a:t>
            </a:r>
            <a:pPr algn="l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23×</a:t>
            </a:r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since 2010 — from 30,000 to over 700,000 installs per year.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growth is deeply uneven. Two counties with nearly identical sunshine, income, and home ownership can differ by </a:t>
            </a:r>
            <a:pPr algn="l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installations per capita.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has no clean explanation for why.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1371600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0" y="1371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0" y="1783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15–20% of revenue on CAC. Everyone targets the same high-income zip codes.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971800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0" y="3383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Under-forecasting distributed solar creates voltage issues on feeders and unplanned upgrades.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4572000"/>
            <a:ext cx="822960" cy="822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energy offices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49834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billions on incentives. Can't cleanly separate policy effect from income or price.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PUBLIC DATA 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LBNL Tracking the Sun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 residential PV installs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date, size, location, cost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Modeling target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ACS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County-level income, housing units,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owner-occupied count, year built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Features + denominator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Open Data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21040" y="2331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residential retail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price by year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Key economic feature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20040" cy="3200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7365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wrangling: merge on county FIPS, aggregate to county-level target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320040" cy="3200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1480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distribution, correlations, subgroup analysis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320040" cy="3200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577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559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impute missing, engineer features, standardize, 80/20 train/test split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989320"/>
            <a:ext cx="320040" cy="3200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989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59710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Modeling: compare 4 regressors with 5-fold CV, hyperparameter tune, select on RMSE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finding: population dominates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Contrary to the industry heuristic, county population — not electricity price or income — is the strongest single correlate of per-capita adoption. And the sign is negative.</a:t>
            </a:r>
            <a:endParaRPr lang="en-US" sz="1600" dirty="0"/>
          </a:p>
        </p:txBody>
      </p:sp>
      <p:pic>
        <p:nvPicPr>
          <p:cNvPr id="4" name="Image 0" descr="/home/claude/final_docs/reports/figures/0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0"/>
            <a:ext cx="5760720" cy="2743200"/>
          </a:xfrm>
          <a:prstGeom prst="rect">
            <a:avLst/>
          </a:prstGeom>
        </p:spPr>
      </p:pic>
      <p:pic>
        <p:nvPicPr>
          <p:cNvPr id="5" name="Image 1" descr="/home/claude/final_docs/reports/figures/04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94960" cy="4297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4754880"/>
            <a:ext cx="5760720" cy="1737360"/>
          </a:xfrm>
          <a:prstGeom prst="roundRect">
            <a:avLst>
              <a:gd name="adj" fmla="val 5263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892040"/>
            <a:ext cx="5394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is right-skewed (skewness = 2.4) → log-transform for linear models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Population r = </a:t>
            </a:r>
            <a:pPr algn="l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−0.69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target (strong negative)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Electricity price r = +0.22, Spearman ρ = +0.31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Income r ≈ </a:t>
            </a:r>
            <a:pPr algn="l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+0.06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 linear relationship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compared, one winner</a:t>
            </a:r>
            <a:endParaRPr lang="en-US" sz="3200" dirty="0"/>
          </a:p>
        </p:txBody>
      </p:sp>
      <p:pic>
        <p:nvPicPr>
          <p:cNvPr id="3" name="Image 0" descr="/home/claude/final_docs/reports/figures/06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85800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98080" y="1188720"/>
            <a:ext cx="4297680" cy="2926080"/>
          </a:xfrm>
          <a:prstGeom prst="roundRect">
            <a:avLst>
              <a:gd name="adj" fmla="val 4688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8096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8096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8096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Regressor (tuned)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80960" y="24688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   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n_estimators=300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learning_rate=0.1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3891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tree ensembles beat the linear models. Gradient Boosting wins by a comfortable margin — exactly the model architecture the project proposal committed to for the final version.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212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349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54864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RMSE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5212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29000" y="5349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+0.28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342900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R²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5212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5349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30936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89720" y="5212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89720" y="5349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+0.76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18972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model's predictions?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feature importance from the final Gradient Boosting model. Right: predicted vs. actual on the held-out test set.</a:t>
            </a:r>
            <a:endParaRPr lang="en-US" sz="1500" dirty="0"/>
          </a:p>
        </p:txBody>
      </p:sp>
      <p:pic>
        <p:nvPicPr>
          <p:cNvPr id="4" name="Image 0" descr="/home/claude/final_docs/reports/figures/07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91640"/>
            <a:ext cx="5852160" cy="4206240"/>
          </a:xfrm>
          <a:prstGeom prst="rect">
            <a:avLst/>
          </a:prstGeom>
        </p:spPr>
      </p:pic>
      <p:pic>
        <p:nvPicPr>
          <p:cNvPr id="5" name="Image 1" descr="/home/claude/final_docs/reports/figures/08_predicted_vs_act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486400" cy="4480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03504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035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log_population = 80% importance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electricity price is #2   ·   Test R² = </a:t>
            </a:r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recommendations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INSTALLERS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model residuals to find underserved markets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where actual adoption is running below the model's prediction are underserved high-propensity markets. The residuals produce a rankable target list for market entry.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434340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3017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distributed solar in mid-sized service areas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43400" y="4297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is negatively correlated with per-capita adoption. Feeder-level planning should prioritize mid-sized county service areas with elevated electricity prices — not the densest urban areas.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81381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ENERGY OFFICES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3017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Reconsider income-targeted incentives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38160" y="4297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shows essentially no independent linear signal (r ≈ +0.06). Price and housing stock look like stronger levers. Next incentive-program evaluation should test price- or tenure-based targeting.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here works. What's next makes it deployable.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counties in demo; ~3,100 available on full dataset. Confidence intervals will tighten dramatically.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features.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NREL irradiance and DSIRE policy indicators deferred to follow-up. Both named in the proposal.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only.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most-recent-year snapshot. Panel model would let us study within-county change.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1663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proxy. </a:t>
            </a:r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is likely a proxy for housing tenure. Explicit tenure/unit-type feature would separate effects.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951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full dataset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95160" y="26700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against ~3,100 counties nationwide.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52044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irradiance + policy features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95160" y="390448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NSRDB + DSIRE indicators, then re-tune.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75488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stakeholders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95160" y="51389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Residual-ranked target lists for the three audiences.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Residential Solar Adoption Across U.S. Counties</dc:title>
  <dc:subject>PptxGenJS Presentation</dc:subject>
  <dc:creator>Colin Segura</dc:creator>
  <cp:lastModifiedBy>Colin Segura</cp:lastModifiedBy>
  <cp:revision>1</cp:revision>
  <dcterms:created xsi:type="dcterms:W3CDTF">2026-07-21T02:06:03Z</dcterms:created>
  <dcterms:modified xsi:type="dcterms:W3CDTF">2026-07-21T02:06:03Z</dcterms:modified>
</cp:coreProperties>
</file>